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Average"/>
      <p:regular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D154CC-DE62-421E-AE7E-C1B7DF42EEAB}">
  <a:tblStyle styleId="{4FD154CC-DE62-421E-AE7E-C1B7DF42EE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Oswa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Average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59014c6f3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59014c6f3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59014c6f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59014c6f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59014c6f3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59014c6f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59014c6f3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59014c6f3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59014c6f3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59014c6f3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59014c6f3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59014c6f3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59014c6f3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59014c6f3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59014c6f3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59014c6f3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59014c6f3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59014c6f3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59014c6f3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59014c6f3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9014c6f3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9014c6f3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/>
          <p:nvPr/>
        </p:nvSpPr>
        <p:spPr>
          <a:xfrm>
            <a:off x="1208700" y="840450"/>
            <a:ext cx="6726600" cy="3462600"/>
          </a:xfrm>
          <a:prstGeom prst="roundRect">
            <a:avLst>
              <a:gd fmla="val 16667" name="adj"/>
            </a:avLst>
          </a:prstGeom>
          <a:solidFill>
            <a:srgbClr val="738BA2">
              <a:alpha val="9215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0" name="Google Shape;60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Housing Price Regression</a:t>
            </a:r>
            <a:endParaRPr/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671250" y="29857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Kevin Chen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897300" y="1131362"/>
            <a:ext cx="7349400" cy="3464100"/>
          </a:xfrm>
          <a:prstGeom prst="roundRect">
            <a:avLst>
              <a:gd fmla="val 16667" name="adj"/>
            </a:avLst>
          </a:prstGeom>
          <a:solidFill>
            <a:srgbClr val="738BA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Introduction</a:t>
            </a:r>
            <a:endParaRPr sz="3500"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904725" y="1244988"/>
            <a:ext cx="3490800" cy="3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Goals</a:t>
            </a:r>
            <a:endParaRPr sz="2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Predict housing prices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Identify which variables most strongly influence house prices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Compare models to find the most efficient and accurate model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4653600" y="1244988"/>
            <a:ext cx="3490800" cy="3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Dataset</a:t>
            </a:r>
            <a:endParaRPr sz="2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Contains 50,000 observations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Variables include Price, Square feet, Bathrooms, Bedrooms, YearBuilt, and Neighborhood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87290" y="4688809"/>
            <a:ext cx="8159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CCCCCC"/>
                </a:solidFill>
                <a:latin typeface="Average"/>
                <a:ea typeface="Average"/>
                <a:cs typeface="Average"/>
                <a:sym typeface="Average"/>
              </a:rPr>
              <a:t>https://www.kaggle.com/datasets/muhammadbinimran/housing-price-prediction-data/data</a:t>
            </a:r>
            <a:endParaRPr sz="1200">
              <a:solidFill>
                <a:srgbClr val="CCCCCC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Variables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Response variable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Price (dollars)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Predictor variables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SquareFeet - numeric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Bedrooms - numeric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Bathrooms - numeric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YearBuilt - numeric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Neighborhood - categorical (Urban/Suburban/Rural)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Data Cleaning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4052550" y="1382800"/>
            <a:ext cx="4260300" cy="34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missing values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Checked for outliers and removed unrealistic negative observations from the dataset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Higher priced homes were kept since they represent natural variations in the real estate market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Converted neighborhood to factor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325" y="3045000"/>
            <a:ext cx="3009251" cy="1859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325" y="1101713"/>
            <a:ext cx="3009251" cy="185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Exploratory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4572000" y="1174375"/>
            <a:ext cx="4260300" cy="36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Price is roughly normally distributed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Square footage varies, which gives stronger predictive power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Bedrooms and bathrooms are </a:t>
            </a:r>
            <a:r>
              <a:rPr lang="en">
                <a:solidFill>
                  <a:schemeClr val="dk1"/>
                </a:solidFill>
              </a:rPr>
              <a:t>balanced </a:t>
            </a:r>
            <a:r>
              <a:rPr lang="en">
                <a:solidFill>
                  <a:schemeClr val="dk1"/>
                </a:solidFill>
              </a:rPr>
              <a:t>discrete counts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Neighborhood categories are evenly distributed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Year built spans many decades and are also evenly distributed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350" y="1417713"/>
            <a:ext cx="4267200" cy="2636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Correlation and Multicollinearity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5496025" y="1152475"/>
            <a:ext cx="3648000" cy="34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Predictors show very low correlation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Square feet is the only predictor moderately related to price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All VIF values are approximately 1, confirming no collinearity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All the variables can be safely included in the model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700" y="1152475"/>
            <a:ext cx="3714446" cy="229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Screenshot 2025-11-18 at 3.06.4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438" y="3582250"/>
            <a:ext cx="5164974" cy="78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Univariate 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77400" y="3698975"/>
            <a:ext cx="8520600" cy="12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400"/>
              <a:t>Square footage explains the most variation in price (56% by itself)</a:t>
            </a:r>
            <a:endParaRPr sz="6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400"/>
              <a:t>Bedrooms and bathrooms are statistically significant but explain very little variation individually</a:t>
            </a:r>
            <a:endParaRPr sz="6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400"/>
              <a:t>Year built alone has no predictive value</a:t>
            </a:r>
            <a:endParaRPr sz="6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400"/>
              <a:t>Urban neighborhoods are slightly higher priced than rural in the univariate model</a:t>
            </a:r>
            <a:endParaRPr sz="64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6" name="Google Shape;106;p19"/>
          <p:cNvGraphicFramePr/>
          <p:nvPr/>
        </p:nvGraphicFramePr>
        <p:xfrm>
          <a:off x="952500" y="106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{4FD154CC-DE62-421E-AE7E-C1B7DF42EEAB}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Predictor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p-value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R^2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Estimate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Interpretation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Square Feet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&lt;2.2e-16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0.5635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+99.15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Strong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Bedrooms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&lt;2.2e-16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+4,964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Strong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Bathrooms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&lt;2.41e-10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0.00078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+2,638.1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Strong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Year Built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-1.477e-05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-8.4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Not significant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Neighborhood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3.247e-6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0.00047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+3,088.5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(urban)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Urban significant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Full Multiple Regression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262775" y="4331675"/>
            <a:ext cx="7239000" cy="8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Multiple R-squared: 0.5702 Adjusted R-squared: 0.5701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The full model represents about 57% of the variations in house prices</a:t>
            </a:r>
            <a:endParaRPr sz="1400"/>
          </a:p>
        </p:txBody>
      </p:sp>
      <p:graphicFrame>
        <p:nvGraphicFramePr>
          <p:cNvPr id="113" name="Google Shape;113;p20"/>
          <p:cNvGraphicFramePr/>
          <p:nvPr/>
        </p:nvGraphicFramePr>
        <p:xfrm>
          <a:off x="311700" y="107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{4FD154CC-DE62-421E-AE7E-C1B7DF42EEAB}</a:tableStyleId>
              </a:tblPr>
              <a:tblGrid>
                <a:gridCol w="2045150"/>
                <a:gridCol w="2045150"/>
                <a:gridCol w="2045150"/>
                <a:gridCol w="2045150"/>
              </a:tblGrid>
              <a:tr h="39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Predictor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Estimate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p-value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Interpretation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Square Feet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+99.168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&lt;2e-16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significant positive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Bedrooms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+5,080.75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&lt;2e-16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ignificant positive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Bathrooms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+2,826.1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&lt;2e-16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ignificant positive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Year Built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-10.85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0.3133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not significant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0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Neighborhood (urban vs rural)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+1,562.22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0.00425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ignificant positive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0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Neighborhood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(suburban vs rural)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-705.125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0.1961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not significant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Model Comparison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81800" y="3842850"/>
            <a:ext cx="8520600" cy="11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Did not remove neighborhood since urban is still significant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Removed YearBuilt since it was not significant in the full model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Since the results are the same with fewer predictors the reduced model is more efficient</a:t>
            </a:r>
            <a:endParaRPr/>
          </a:p>
        </p:txBody>
      </p:sp>
      <p:graphicFrame>
        <p:nvGraphicFramePr>
          <p:cNvPr id="120" name="Google Shape;120;p21"/>
          <p:cNvGraphicFramePr/>
          <p:nvPr/>
        </p:nvGraphicFramePr>
        <p:xfrm>
          <a:off x="311700" y="133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{4FD154CC-DE62-421E-AE7E-C1B7DF42EEAB}</a:tableStyleId>
              </a:tblPr>
              <a:tblGrid>
                <a:gridCol w="2130150"/>
                <a:gridCol w="2130150"/>
                <a:gridCol w="2130150"/>
                <a:gridCol w="2130150"/>
              </a:tblGrid>
              <a:tr h="5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Model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Predictors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R-squared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Adjusted R-squared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4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Full Model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Sqft, Beds, Baths, YearBuilt, Neighborhood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7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Reduced Model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Sqft, Beds, Baths, Neighborhood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Model Diagnostics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4795325" y="833988"/>
            <a:ext cx="4146300" cy="3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Summary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Residuals vs Fitted: Points are randomly scattered around 0 with no curve or pattern noticeable -&gt; no major nonlinearity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Q-Q Plot: points mostly follow the straight line -&gt; residuals are approximately normal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Scale-Location Plot: Spread of points are fairly normal -&gt; no major variance issues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Residuals vs Leverage: No points with high leverage -&gt; no </a:t>
            </a:r>
            <a:r>
              <a:rPr lang="en" sz="1600"/>
              <a:t>influential</a:t>
            </a:r>
            <a:r>
              <a:rPr lang="en" sz="1600"/>
              <a:t> outliers</a:t>
            </a:r>
            <a:endParaRPr sz="1600"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0425"/>
            <a:ext cx="4374150" cy="270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/>
        </p:nvSpPr>
        <p:spPr>
          <a:xfrm>
            <a:off x="437925" y="4193175"/>
            <a:ext cx="743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All regression assumptions are reasonably satisfied, so the final model is appropriate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Final Best Model</a:t>
            </a:r>
            <a:endParaRPr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Price ~ SquareFeet + Bedrooms + Bathrooms + Neighborhood</a:t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857700" y="1631300"/>
            <a:ext cx="7428600" cy="26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Why?</a:t>
            </a:r>
            <a:endParaRPr b="1"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Same R-squared as full model (~0.572)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More efficient since there are fewer predictors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All predictors are statistically significant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Diagnostics confirmed the model meets regression assumptions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This model explains ~57.2% of the 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variation in housing prices using only 4 meaningful predictors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Conclusion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1152475"/>
            <a:ext cx="8578200" cy="38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Square footage: 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Bigger homes = higher price (strongest predictor)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Bedrooms and Bathrooms: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rooms or bathrooms = higher price (significant positive effects)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Neighborhood: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Urban homes = higher price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Year built: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 age does not meaningfully affect price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Overall Model Performance: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Explains ~57% of price variation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for housing data, but remaining variation may reflect factors not included (lot size, renovations, school district, market conditions)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